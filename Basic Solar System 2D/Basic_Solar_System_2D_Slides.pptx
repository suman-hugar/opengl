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3172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1737360"/>
          </a:xfrm>
          <a:prstGeom prst="rect">
            <a:avLst/>
          </a:prstGeom>
          <a:noFill/>
        </p:spPr>
        <p:txBody>
          <a:bodyPr wrap="square">
            <a:spAutoFit/>
          </a:bodyPr>
          <a:lstStyle/>
          <a:p>
            <a:r>
              <a:rPr sz="4200" b="1">
                <a:solidFill>
                  <a:srgbClr val="FFFFFF"/>
                </a:solidFill>
              </a:rPr>
              <a:t>Basic Solar System 2D</a:t>
            </a:r>
          </a:p>
          <a:p>
            <a:r>
              <a:rPr sz="1700">
                <a:solidFill>
                  <a:srgbClr val="DCE8F5"/>
                </a:solidFill>
              </a:rPr>
              <a:t>2D OpenGL Mini Project in C  ·  639 lines  ·  freeglut</a:t>
            </a:r>
          </a:p>
        </p:txBody>
      </p:sp>
      <p:pic>
        <p:nvPicPr>
          <p:cNvPr id="4" name="Picture 3" descr="shot-1.png"/>
          <p:cNvPicPr>
            <a:picLocks noChangeAspect="1"/>
          </p:cNvPicPr>
          <p:nvPr/>
        </p:nvPicPr>
        <p:blipFill>
          <a:blip r:embed="rId2"/>
          <a:stretch>
            <a:fillRect/>
          </a:stretch>
        </p:blipFill>
        <p:spPr>
          <a:xfrm>
            <a:off x="3566160" y="2697480"/>
            <a:ext cx="4833257" cy="3383280"/>
          </a:xfrm>
          <a:prstGeom prst="rect">
            <a:avLst/>
          </a:prstGeom>
        </p:spPr>
      </p:pic>
      <p:sp>
        <p:nvSpPr>
          <p:cNvPr id="5" name="TextBox 4"/>
          <p:cNvSpPr txBox="1"/>
          <p:nvPr/>
        </p:nvSpPr>
        <p:spPr>
          <a:xfrm>
            <a:off x="731520" y="6172200"/>
            <a:ext cx="10728655" cy="365760"/>
          </a:xfrm>
          <a:prstGeom prst="rect">
            <a:avLst/>
          </a:prstGeom>
          <a:noFill/>
        </p:spPr>
        <p:txBody>
          <a:bodyPr wrap="square">
            <a:spAutoFit/>
          </a:bodyPr>
          <a:lstStyle/>
          <a:p>
            <a:r>
              <a:rPr sz="1100">
                <a:solidFill>
                  <a:srgbClr val="555A63"/>
                </a:solidFill>
              </a:rPr>
              <a:t>Computer Graphics Laboratory with Mini Project  ·  Copyright (c) 2026 Suman Hugar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Introduction</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200"/>
              </a:spcAft>
            </a:pPr>
            <a:r>
              <a:rPr sz="1600">
                <a:solidFill>
                  <a:srgbClr val="1B1B1F"/>
                </a:solidFill>
              </a:rPr>
              <a:t>Basic Solar System 2D is a 2D computer graphics mini project written in C using the OpenGL fixed-function pipeline and GLUT.</a:t>
            </a:r>
          </a:p>
          <a:p>
            <a:pPr>
              <a:spcAft>
                <a:spcPts val="1200"/>
              </a:spcAft>
            </a:pPr>
            <a:r>
              <a:rPr sz="1600">
                <a:solidFill>
                  <a:srgbClr val="1B1B1F"/>
                </a:solidFill>
              </a:rPr>
              <a:t>It is 639 lines of source in a single file, with no model files, image files or other external assets. Everything on screen is generated in code from OpenGL primitives.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Objectives</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300"/>
              </a:spcAft>
            </a:pPr>
            <a:r>
              <a:rPr sz="1800">
                <a:solidFill>
                  <a:srgbClr val="1B1B1F"/>
                </a:solidFill>
              </a:rPr>
              <a:t>•   Implement a complete 2D scene using OpenGL and GLUT</a:t>
            </a:r>
          </a:p>
          <a:p>
            <a:pPr>
              <a:spcAft>
                <a:spcPts val="1300"/>
              </a:spcAft>
            </a:pPr>
            <a:r>
              <a:rPr sz="1800">
                <a:solidFill>
                  <a:srgbClr val="1B1B1F"/>
                </a:solidFill>
              </a:rPr>
              <a:t>•   Apply translation, rotation and scaling through the modelview matrix</a:t>
            </a:r>
          </a:p>
          <a:p>
            <a:pPr>
              <a:spcAft>
                <a:spcPts val="1300"/>
              </a:spcAft>
            </a:pPr>
            <a:r>
              <a:rPr sz="1800">
                <a:solidFill>
                  <a:srgbClr val="1B1B1F"/>
                </a:solidFill>
              </a:rPr>
              <a:t>•   Demonstrate hierarchical modelling with the matrix stack</a:t>
            </a:r>
          </a:p>
          <a:p>
            <a:pPr>
              <a:spcAft>
                <a:spcPts val="1300"/>
              </a:spcAft>
            </a:pPr>
            <a:r>
              <a:rPr sz="1800">
                <a:solidFill>
                  <a:srgbClr val="1B1B1F"/>
                </a:solidFill>
              </a:rPr>
              <a:t>•   Produce flicker-free animation with double buffering</a:t>
            </a:r>
          </a:p>
          <a:p>
            <a:pPr>
              <a:spcAft>
                <a:spcPts val="1300"/>
              </a:spcAft>
            </a:pPr>
            <a:r>
              <a:rPr sz="1800">
                <a:solidFill>
                  <a:srgbClr val="1B1B1F"/>
                </a:solidFill>
              </a:rPr>
              <a:t>•   Respond to user input through GLUT event callbacks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System Requirements</a:t>
            </a:r>
          </a:p>
        </p:txBody>
      </p:sp>
      <p:graphicFrame>
        <p:nvGraphicFramePr>
          <p:cNvPr id="4" name="Table 3"/>
          <p:cNvGraphicFramePr>
            <a:graphicFrameLocks noGrp="1"/>
          </p:cNvGraphicFramePr>
          <p:nvPr/>
        </p:nvGraphicFramePr>
        <p:xfrm>
          <a:off x="777240" y="1417320"/>
          <a:ext cx="10637214" cy="2304288"/>
        </p:xfrm>
        <a:graphic>
          <a:graphicData uri="http://schemas.openxmlformats.org/drawingml/2006/table">
            <a:tbl>
              <a:tblPr firstRow="1" bandRow="1">
                <a:tableStyleId>{5C22544A-7EE6-4342-B048-85BDC9FD1C3A}</a:tableStyleId>
              </a:tblPr>
              <a:tblGrid>
                <a:gridCol w="3403908"/>
                <a:gridCol w="7233306"/>
              </a:tblGrid>
              <a:tr h="384048">
                <a:tc>
                  <a:txBody>
                    <a:bodyPr/>
                    <a:lstStyle/>
                    <a:p>
                      <a:r>
                        <a:rPr sz="1400" b="1"/>
                        <a:t>Component</a:t>
                      </a:r>
                    </a:p>
                  </a:txBody>
                  <a:tcPr/>
                </a:tc>
                <a:tc>
                  <a:txBody>
                    <a:bodyPr/>
                    <a:lstStyle/>
                    <a:p>
                      <a:r>
                        <a:rPr sz="1400" b="1"/>
                        <a:t>Requirement</a:t>
                      </a:r>
                    </a:p>
                  </a:txBody>
                  <a:tcPr/>
                </a:tc>
              </a:tr>
              <a:tr h="384048">
                <a:tc>
                  <a:txBody>
                    <a:bodyPr/>
                    <a:lstStyle/>
                    <a:p>
                      <a:r>
                        <a:rPr sz="1200"/>
                        <a:t>Language</a:t>
                      </a:r>
                    </a:p>
                  </a:txBody>
                  <a:tcPr/>
                </a:tc>
                <a:tc>
                  <a:txBody>
                    <a:bodyPr/>
                    <a:lstStyle/>
                    <a:p>
                      <a:r>
                        <a:rPr sz="1200"/>
                        <a:t>C</a:t>
                      </a:r>
                    </a:p>
                  </a:txBody>
                  <a:tcPr/>
                </a:tc>
              </a:tr>
              <a:tr h="384048">
                <a:tc>
                  <a:txBody>
                    <a:bodyPr/>
                    <a:lstStyle/>
                    <a:p>
                      <a:r>
                        <a:rPr sz="1200"/>
                        <a:t>Graphics API</a:t>
                      </a:r>
                    </a:p>
                  </a:txBody>
                  <a:tcPr/>
                </a:tc>
                <a:tc>
                  <a:txBody>
                    <a:bodyPr/>
                    <a:lstStyle/>
                    <a:p>
                      <a:r>
                        <a:rPr sz="1200"/>
                        <a:t>OpenGL 1.x fixed-function</a:t>
                      </a:r>
                    </a:p>
                  </a:txBody>
                  <a:tcPr/>
                </a:tc>
              </a:tr>
              <a:tr h="384048">
                <a:tc>
                  <a:txBody>
                    <a:bodyPr/>
                    <a:lstStyle/>
                    <a:p>
                      <a:r>
                        <a:rPr sz="1200"/>
                        <a:t>Toolkit</a:t>
                      </a:r>
                    </a:p>
                  </a:txBody>
                  <a:tcPr/>
                </a:tc>
                <a:tc>
                  <a:txBody>
                    <a:bodyPr/>
                    <a:lstStyle/>
                    <a:p>
                      <a:r>
                        <a:rPr sz="1200"/>
                        <a:t>freeglut (GLUT) 3.x</a:t>
                      </a:r>
                    </a:p>
                  </a:txBody>
                  <a:tcPr/>
                </a:tc>
              </a:tr>
              <a:tr h="384048">
                <a:tc>
                  <a:txBody>
                    <a:bodyPr/>
                    <a:lstStyle/>
                    <a:p>
                      <a:r>
                        <a:rPr sz="1200"/>
                        <a:t>Compiler</a:t>
                      </a:r>
                    </a:p>
                  </a:txBody>
                  <a:tcPr/>
                </a:tc>
                <a:tc>
                  <a:txBody>
                    <a:bodyPr/>
                    <a:lstStyle/>
                    <a:p>
                      <a:r>
                        <a:rPr sz="1200"/>
                        <a:t>gcc / g++, MinGW-w64 on Windows</a:t>
                      </a:r>
                    </a:p>
                  </a:txBody>
                  <a:tcPr/>
                </a:tc>
              </a:tr>
              <a:tr h="384048">
                <a:tc>
                  <a:txBody>
                    <a:bodyPr/>
                    <a:lstStyle/>
                    <a:p>
                      <a:r>
                        <a:rPr sz="1200"/>
                        <a:t>Platform</a:t>
                      </a:r>
                    </a:p>
                  </a:txBody>
                  <a:tcPr/>
                </a:tc>
                <a:tc>
                  <a:txBody>
                    <a:bodyPr/>
                    <a:lstStyle/>
                    <a:p>
                      <a:r>
                        <a:rPr sz="1200"/>
                        <a:t>Linux and Windows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Architecture</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300"/>
              </a:spcAft>
            </a:pPr>
            <a:r>
              <a:rPr sz="1800">
                <a:solidFill>
                  <a:srgbClr val="1B1B1F"/>
                </a:solidFill>
              </a:rPr>
              <a:t>•   main() creates the window, sets one-time GL state and registers callbacks</a:t>
            </a:r>
          </a:p>
          <a:p>
            <a:pPr>
              <a:spcAft>
                <a:spcPts val="1300"/>
              </a:spcAft>
            </a:pPr>
            <a:r>
              <a:rPr sz="1800">
                <a:solidFill>
                  <a:srgbClr val="1B1B1F"/>
                </a:solidFill>
              </a:rPr>
              <a:t>•   glutMainLoop() takes control; the program runs only through its callbacks</a:t>
            </a:r>
          </a:p>
          <a:p>
            <a:pPr>
              <a:spcAft>
                <a:spcPts val="1300"/>
              </a:spcAft>
            </a:pPr>
            <a:r>
              <a:rPr sz="1800">
                <a:solidFill>
                  <a:srgbClr val="1B1B1F"/>
                </a:solidFill>
              </a:rPr>
              <a:t>•   display() draws one frame and changes no state</a:t>
            </a:r>
          </a:p>
          <a:p>
            <a:pPr>
              <a:spcAft>
                <a:spcPts val="1300"/>
              </a:spcAft>
            </a:pPr>
            <a:r>
              <a:rPr sz="1800">
                <a:solidFill>
                  <a:srgbClr val="1B1B1F"/>
                </a:solidFill>
              </a:rPr>
              <a:t>•   A timer or idle callback advances the animation and posts a redisplay</a:t>
            </a:r>
          </a:p>
          <a:p>
            <a:pPr>
              <a:spcAft>
                <a:spcPts val="1300"/>
              </a:spcAft>
            </a:pPr>
            <a:r>
              <a:rPr sz="1800">
                <a:solidFill>
                  <a:srgbClr val="1B1B1F"/>
                </a:solidFill>
              </a:rPr>
              <a:t>•   Keyboard callbacks update state; they never draw</a:t>
            </a:r>
          </a:p>
          <a:p>
            <a:pPr>
              <a:spcAft>
                <a:spcPts val="1300"/>
              </a:spcAft>
            </a:pPr>
            <a:r>
              <a:rPr sz="1800">
                <a:solidFill>
                  <a:srgbClr val="1B1B1F"/>
                </a:solidFill>
              </a:rPr>
              <a:t>•   reshape() recomputes the viewport and projection on resize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Hierarchical Modelling and the Matrix Stack</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200"/>
              </a:spcAft>
            </a:pPr>
            <a:r>
              <a:rPr sz="1600">
                <a:solidFill>
                  <a:srgbClr val="1B1B1F"/>
                </a:solidFill>
              </a:rPr>
              <a:t>The scene is not drawn as a flat list of shapes at absolute positions. Parts are drawn inside the coordinate space of the part they belong to, so a component automatically follows whatever it is attached to. This is what the modelview matrix stack is for.</a:t>
            </a:r>
          </a:p>
          <a:p>
            <a:pPr>
              <a:spcAft>
                <a:spcPts val="1200"/>
              </a:spcAft>
            </a:pPr>
            <a:r>
              <a:rPr sz="1600">
                <a:solidFill>
                  <a:srgbClr val="1B1B1F"/>
                </a:solidFill>
              </a:rPr>
              <a:t>glPushMatrix saves a copy of the current transformation matrix; the code then applies its own translation, rotation or scale and draws the child; glPopMatrix restores the saved matrix so the next sibling starts from the parent's state again. Because transformations compose by matrix multiplication, a child inherits every transformation applied by its ancestors without any explicit arithmetic.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Alpha Blending and Transparency</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200"/>
              </a:spcAft>
            </a:pPr>
            <a:r>
              <a:rPr sz="1600">
                <a:solidFill>
                  <a:srgbClr val="1B1B1F"/>
                </a:solidFill>
              </a:rPr>
              <a:t>Blending combines the fragment being drawn with the colour already in the framebuffer instead of replacing it. With the usual function, glBlendFunc(GL_SRC_ALPHA, GL_ONE_MINUS_SRC_ALPHA), the incoming colour is weighted by its alpha and the existing colour by one minus that alpha, so a surface at 30% alpha lets 70% of what is behind it through.</a:t>
            </a:r>
          </a:p>
          <a:p>
            <a:pPr>
              <a:spcAft>
                <a:spcPts val="1200"/>
              </a:spcAft>
            </a:pPr>
            <a:r>
              <a:rPr sz="1600">
                <a:solidFill>
                  <a:srgbClr val="1B1B1F"/>
                </a:solidFill>
              </a:rPr>
              <a:t>Blending is order-dependent in a way that opaque drawing is not. Transparent geometry has to be drawn after the opaque geometry, and ideally back to front, because the depth test will otherwise reject fragments that should have contributed to the blend.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Viewing, Projection and the Camera</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200"/>
              </a:spcAft>
            </a:pPr>
            <a:r>
              <a:rPr sz="1600">
                <a:solidFill>
                  <a:srgbClr val="1B1B1F"/>
                </a:solidFill>
              </a:rPr>
              <a:t>Getting an image out of a 3D scene takes two matrices. The modelview matrix places objects relative to the eye, and the projection matrix decides how that eye space is flattened onto the screen. They are configured separately, selected with glMatrixMode.</a:t>
            </a:r>
          </a:p>
          <a:p>
            <a:pPr>
              <a:spcAft>
                <a:spcPts val="1200"/>
              </a:spcAft>
            </a:pPr>
            <a:r>
              <a:rPr sz="1600">
                <a:solidFill>
                  <a:srgbClr val="1B1B1F"/>
                </a:solidFill>
              </a:rPr>
              <a:t>gluPerspective sets up a perspective projection from a field of view, an aspect ratio and near and far clipping planes; distant objects get smaller, which is what makes a scene read as three-dimensional. glOrtho and gluOrtho2D set up a parallel projection where size does not change with distance, which is the right choice for 2D work and for overlays.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Animation and the Frame Loop</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200"/>
              </a:spcAft>
            </a:pPr>
            <a:r>
              <a:rPr sz="1600">
                <a:solidFill>
                  <a:srgbClr val="1B1B1F"/>
                </a:solidFill>
              </a:rPr>
              <a:t>Animation is a state update repeated between frames. GLUT drives this either with glutTimerFunc, which asks for a callback after a stated number of milliseconds, or with glutIdleFunc, which runs whenever no events are pending. The callback advances the state and calls glutPostRedisplay to request a new frame.</a:t>
            </a:r>
          </a:p>
          <a:p>
            <a:pPr>
              <a:spcAft>
                <a:spcPts val="1200"/>
              </a:spcAft>
            </a:pPr>
            <a:r>
              <a:rPr sz="1600">
                <a:solidFill>
                  <a:srgbClr val="1B1B1F"/>
                </a:solidFill>
              </a:rPr>
              <a:t>Double buffering is what makes the result look continuous. The frame is composed in a back buffer that the display never shows, and glutSwapBuffers presents it in one step. Drawing straight to the visible buffer instead produces tearing and flicker, because the viewer sees the image being assembled.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Geometry and Primitives</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300"/>
              </a:spcAft>
            </a:pPr>
            <a:r>
              <a:rPr sz="1800">
                <a:solidFill>
                  <a:srgbClr val="1B1B1F"/>
                </a:solidFill>
              </a:rPr>
              <a:t>•   Primitives used: lines, line loops, triangle fans, quads</a:t>
            </a:r>
          </a:p>
          <a:p>
            <a:pPr>
              <a:spcAft>
                <a:spcPts val="1300"/>
              </a:spcAft>
            </a:pPr>
            <a:r>
              <a:rPr sz="1800">
                <a:solidFill>
                  <a:srgbClr val="1B1B1F"/>
                </a:solidFill>
              </a:rPr>
              <a:t>•   4 glPushMatrix / glPopMatrix pairs build the scene hierarchy</a:t>
            </a:r>
          </a:p>
          <a:p>
            <a:pPr>
              <a:spcAft>
                <a:spcPts val="1300"/>
              </a:spcAft>
            </a:pPr>
            <a:r>
              <a:rPr sz="1800">
                <a:solidFill>
                  <a:srgbClr val="1B1B1F"/>
                </a:solidFill>
              </a:rPr>
              <a:t>•   No circle primitive exists in OpenGL — round shapes are triangle fans stepped with sine and cosine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Controls</a:t>
            </a:r>
          </a:p>
        </p:txBody>
      </p:sp>
      <p:graphicFrame>
        <p:nvGraphicFramePr>
          <p:cNvPr id="4" name="Table 3"/>
          <p:cNvGraphicFramePr>
            <a:graphicFrameLocks noGrp="1"/>
          </p:cNvGraphicFramePr>
          <p:nvPr/>
        </p:nvGraphicFramePr>
        <p:xfrm>
          <a:off x="777240" y="1417320"/>
          <a:ext cx="10637215" cy="3840480"/>
        </p:xfrm>
        <a:graphic>
          <a:graphicData uri="http://schemas.openxmlformats.org/drawingml/2006/table">
            <a:tbl>
              <a:tblPr firstRow="1" bandRow="1">
                <a:tableStyleId>{5C22544A-7EE6-4342-B048-85BDC9FD1C3A}</a:tableStyleId>
              </a:tblPr>
              <a:tblGrid>
                <a:gridCol w="2127443"/>
                <a:gridCol w="8509772"/>
              </a:tblGrid>
              <a:tr h="384048">
                <a:tc>
                  <a:txBody>
                    <a:bodyPr/>
                    <a:lstStyle/>
                    <a:p>
                      <a:r>
                        <a:rPr sz="1400" b="1"/>
                        <a:t>Key</a:t>
                      </a:r>
                    </a:p>
                  </a:txBody>
                  <a:tcPr/>
                </a:tc>
                <a:tc>
                  <a:txBody>
                    <a:bodyPr/>
                    <a:lstStyle/>
                    <a:p>
                      <a:r>
                        <a:rPr sz="1400" b="1"/>
                        <a:t>Action</a:t>
                      </a:r>
                    </a:p>
                  </a:txBody>
                  <a:tcPr/>
                </a:tc>
              </a:tr>
              <a:tr h="384048">
                <a:tc>
                  <a:txBody>
                    <a:bodyPr/>
                    <a:lstStyle/>
                    <a:p>
                      <a:r>
                        <a:rPr sz="1200"/>
                        <a:t>ENTER, or a left click</a:t>
                      </a:r>
                    </a:p>
                  </a:txBody>
                  <a:tcPr/>
                </a:tc>
                <a:tc>
                  <a:txBody>
                    <a:bodyPr/>
                    <a:lstStyle/>
                    <a:p>
                      <a:r>
                        <a:rPr sz="1200"/>
                        <a:t>START PROJECT on the title page</a:t>
                      </a:r>
                    </a:p>
                  </a:txBody>
                  <a:tcPr/>
                </a:tc>
              </a:tr>
              <a:tr h="384048">
                <a:tc>
                  <a:txBody>
                    <a:bodyPr/>
                    <a:lstStyle/>
                    <a:p>
                      <a:r>
                        <a:rPr sz="1200"/>
                        <a:t>I or F1</a:t>
                      </a:r>
                    </a:p>
                  </a:txBody>
                  <a:tcPr/>
                </a:tc>
                <a:tc>
                  <a:txBody>
                    <a:bodyPr/>
                    <a:lstStyle/>
                    <a:p>
                      <a:r>
                        <a:rPr sz="1200"/>
                        <a:t>the project information page, on and off</a:t>
                      </a:r>
                    </a:p>
                  </a:txBody>
                  <a:tcPr/>
                </a:tc>
              </a:tr>
              <a:tr h="384048">
                <a:tc>
                  <a:txBody>
                    <a:bodyPr/>
                    <a:lstStyle/>
                    <a:p>
                      <a:r>
                        <a:rPr sz="1200"/>
                        <a:t>ESC</a:t>
                      </a:r>
                    </a:p>
                  </a:txBody>
                  <a:tcPr/>
                </a:tc>
                <a:tc>
                  <a:txBody>
                    <a:bodyPr/>
                    <a:lstStyle/>
                    <a:p>
                      <a:r>
                        <a:rPr sz="1200"/>
                        <a:t>close the information page, or quit</a:t>
                      </a:r>
                    </a:p>
                  </a:txBody>
                  <a:tcPr/>
                </a:tc>
              </a:tr>
              <a:tr h="384048">
                <a:tc>
                  <a:txBody>
                    <a:bodyPr/>
                    <a:lstStyle/>
                    <a:p>
                      <a:r>
                        <a:rPr sz="1200"/>
                        <a:t>T</a:t>
                      </a:r>
                    </a:p>
                  </a:txBody>
                  <a:tcPr/>
                </a:tc>
                <a:tc>
                  <a:txBody>
                    <a:bodyPr/>
                    <a:lstStyle/>
                    <a:p>
                      <a:r>
                        <a:rPr sz="1200"/>
                        <a:t>go back to the front page</a:t>
                      </a:r>
                    </a:p>
                  </a:txBody>
                  <a:tcPr/>
                </a:tc>
              </a:tr>
              <a:tr h="384048">
                <a:tc>
                  <a:txBody>
                    <a:bodyPr/>
                    <a:lstStyle/>
                    <a:p>
                      <a:r>
                        <a:rPr sz="1200"/>
                        <a:t>RIGHT / LEFT</a:t>
                      </a:r>
                    </a:p>
                  </a:txBody>
                  <a:tcPr/>
                </a:tc>
                <a:tc>
                  <a:txBody>
                    <a:bodyPr/>
                    <a:lstStyle/>
                    <a:p>
                      <a:r>
                        <a:rPr sz="1200"/>
                        <a:t>speed up or slow down time</a:t>
                      </a:r>
                    </a:p>
                  </a:txBody>
                  <a:tcPr/>
                </a:tc>
              </a:tr>
              <a:tr h="384048">
                <a:tc>
                  <a:txBody>
                    <a:bodyPr/>
                    <a:lstStyle/>
                    <a:p>
                      <a:r>
                        <a:rPr sz="1200"/>
                        <a:t>O</a:t>
                      </a:r>
                    </a:p>
                  </a:txBody>
                  <a:tcPr/>
                </a:tc>
                <a:tc>
                  <a:txBody>
                    <a:bodyPr/>
                    <a:lstStyle/>
                    <a:p>
                      <a:r>
                        <a:rPr sz="1200"/>
                        <a:t>orbit rings on / off</a:t>
                      </a:r>
                    </a:p>
                  </a:txBody>
                  <a:tcPr/>
                </a:tc>
              </a:tr>
              <a:tr h="384048">
                <a:tc>
                  <a:txBody>
                    <a:bodyPr/>
                    <a:lstStyle/>
                    <a:p>
                      <a:r>
                        <a:rPr sz="1200"/>
                        <a:t>L</a:t>
                      </a:r>
                    </a:p>
                  </a:txBody>
                  <a:tcPr/>
                </a:tc>
                <a:tc>
                  <a:txBody>
                    <a:bodyPr/>
                    <a:lstStyle/>
                    <a:p>
                      <a:r>
                        <a:rPr sz="1200"/>
                        <a:t>labels on / off</a:t>
                      </a:r>
                    </a:p>
                  </a:txBody>
                  <a:tcPr/>
                </a:tc>
              </a:tr>
              <a:tr h="384048">
                <a:tc>
                  <a:txBody>
                    <a:bodyPr/>
                    <a:lstStyle/>
                    <a:p>
                      <a:r>
                        <a:rPr sz="1200"/>
                        <a:t>Click a planet</a:t>
                      </a:r>
                    </a:p>
                  </a:txBody>
                  <a:tcPr/>
                </a:tc>
                <a:tc>
                  <a:txBody>
                    <a:bodyPr/>
                    <a:lstStyle/>
                    <a:p>
                      <a:r>
                        <a:rPr sz="1200"/>
                        <a:t>select it and read its detail</a:t>
                      </a:r>
                    </a:p>
                  </a:txBody>
                  <a:tcPr/>
                </a:tc>
              </a:tr>
              <a:tr h="384048">
                <a:tc>
                  <a:txBody>
                    <a:bodyPr/>
                    <a:lstStyle/>
                    <a:p>
                      <a:r>
                        <a:rPr sz="1200"/>
                        <a:t>P</a:t>
                      </a:r>
                    </a:p>
                  </a:txBody>
                  <a:tcPr/>
                </a:tc>
                <a:tc>
                  <a:txBody>
                    <a:bodyPr/>
                    <a:lstStyle/>
                    <a:p>
                      <a:r>
                        <a:rPr sz="1200"/>
                        <a:t>pause</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Title Page</a:t>
            </a:r>
          </a:p>
        </p:txBody>
      </p:sp>
      <p:pic>
        <p:nvPicPr>
          <p:cNvPr id="4" name="Picture 3" descr="title-page.png"/>
          <p:cNvPicPr>
            <a:picLocks noChangeAspect="1"/>
          </p:cNvPicPr>
          <p:nvPr/>
        </p:nvPicPr>
        <p:blipFill>
          <a:blip r:embed="rId2"/>
          <a:stretch>
            <a:fillRect/>
          </a:stretch>
        </p:blipFill>
        <p:spPr>
          <a:xfrm>
            <a:off x="2895447" y="1508760"/>
            <a:ext cx="6400800" cy="4480560"/>
          </a:xfrm>
          <a:prstGeom prst="rect">
            <a:avLst/>
          </a:prstGeom>
        </p:spPr>
      </p:pic>
      <p:sp>
        <p:nvSpPr>
          <p:cNvPr id="5" name="TextBox 4"/>
          <p:cNvSpPr txBox="1"/>
          <p:nvPr/>
        </p:nvSpPr>
        <p:spPr>
          <a:xfrm>
            <a:off x="777240" y="6080760"/>
            <a:ext cx="10637215" cy="457200"/>
          </a:xfrm>
          <a:prstGeom prst="rect">
            <a:avLst/>
          </a:prstGeom>
          <a:noFill/>
        </p:spPr>
        <p:txBody>
          <a:bodyPr wrap="square">
            <a:spAutoFit/>
          </a:bodyPr>
          <a:lstStyle/>
          <a:p>
            <a:pPr algn="ctr"/>
            <a:r>
              <a:rPr sz="1200" i="1">
                <a:solidFill>
                  <a:srgbClr val="555A63"/>
                </a:solidFill>
              </a:rPr>
              <a:t>Basic Solar System 2D — the first page, with the project and student detail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Project Information</a:t>
            </a:r>
          </a:p>
        </p:txBody>
      </p:sp>
      <p:pic>
        <p:nvPicPr>
          <p:cNvPr id="4" name="Picture 3" descr="info-page.png"/>
          <p:cNvPicPr>
            <a:picLocks noChangeAspect="1"/>
          </p:cNvPicPr>
          <p:nvPr/>
        </p:nvPicPr>
        <p:blipFill>
          <a:blip r:embed="rId2"/>
          <a:stretch>
            <a:fillRect/>
          </a:stretch>
        </p:blipFill>
        <p:spPr>
          <a:xfrm>
            <a:off x="2895447" y="1508760"/>
            <a:ext cx="6400800" cy="4480560"/>
          </a:xfrm>
          <a:prstGeom prst="rect">
            <a:avLst/>
          </a:prstGeom>
        </p:spPr>
      </p:pic>
      <p:sp>
        <p:nvSpPr>
          <p:cNvPr id="5" name="TextBox 4"/>
          <p:cNvSpPr txBox="1"/>
          <p:nvPr/>
        </p:nvSpPr>
        <p:spPr>
          <a:xfrm>
            <a:off x="777240" y="6080760"/>
            <a:ext cx="10637215" cy="457200"/>
          </a:xfrm>
          <a:prstGeom prst="rect">
            <a:avLst/>
          </a:prstGeom>
          <a:noFill/>
        </p:spPr>
        <p:txBody>
          <a:bodyPr wrap="square">
            <a:spAutoFit/>
          </a:bodyPr>
          <a:lstStyle/>
          <a:p>
            <a:pPr algn="ctr"/>
            <a:r>
              <a:rPr sz="1200" i="1">
                <a:solidFill>
                  <a:srgbClr val="555A63"/>
                </a:solidFill>
              </a:rPr>
              <a:t>Basic Solar System 2D — what it does, the concepts it uses, every control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Output</a:t>
            </a:r>
          </a:p>
        </p:txBody>
      </p:sp>
      <p:pic>
        <p:nvPicPr>
          <p:cNvPr id="4" name="Picture 3" descr="shot-1.png"/>
          <p:cNvPicPr>
            <a:picLocks noChangeAspect="1"/>
          </p:cNvPicPr>
          <p:nvPr/>
        </p:nvPicPr>
        <p:blipFill>
          <a:blip r:embed="rId2"/>
          <a:stretch>
            <a:fillRect/>
          </a:stretch>
        </p:blipFill>
        <p:spPr>
          <a:xfrm>
            <a:off x="2895447" y="1508760"/>
            <a:ext cx="6400800" cy="4480560"/>
          </a:xfrm>
          <a:prstGeom prst="rect">
            <a:avLst/>
          </a:prstGeom>
        </p:spPr>
      </p:pic>
      <p:sp>
        <p:nvSpPr>
          <p:cNvPr id="5" name="TextBox 4"/>
          <p:cNvSpPr txBox="1"/>
          <p:nvPr/>
        </p:nvSpPr>
        <p:spPr>
          <a:xfrm>
            <a:off x="777240" y="6080760"/>
            <a:ext cx="10637215" cy="457200"/>
          </a:xfrm>
          <a:prstGeom prst="rect">
            <a:avLst/>
          </a:prstGeom>
          <a:noFill/>
        </p:spPr>
        <p:txBody>
          <a:bodyPr wrap="square">
            <a:spAutoFit/>
          </a:bodyPr>
          <a:lstStyle/>
          <a:p>
            <a:pPr algn="ctr"/>
            <a:r>
              <a:rPr sz="1200" i="1">
                <a:solidFill>
                  <a:srgbClr val="555A63"/>
                </a:solidFill>
              </a:rPr>
              <a:t>Basic Solar System 2D — captured from the running program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Viva Questions</a:t>
            </a:r>
          </a:p>
        </p:txBody>
      </p:sp>
      <p:sp>
        <p:nvSpPr>
          <p:cNvPr id="4" name="TextBox 3"/>
          <p:cNvSpPr txBox="1"/>
          <p:nvPr/>
        </p:nvSpPr>
        <p:spPr>
          <a:xfrm>
            <a:off x="777240" y="1417320"/>
            <a:ext cx="10637215" cy="4754880"/>
          </a:xfrm>
          <a:prstGeom prst="rect">
            <a:avLst/>
          </a:prstGeom>
          <a:noFill/>
        </p:spPr>
        <p:txBody>
          <a:bodyPr wrap="square">
            <a:spAutoFit/>
          </a:bodyPr>
          <a:lstStyle/>
          <a:p>
            <a:pPr>
              <a:spcAft>
                <a:spcPts val="400"/>
              </a:spcAft>
            </a:pPr>
            <a:r>
              <a:rPr sz="1600" b="1">
                <a:solidFill>
                  <a:srgbClr val="125C9E"/>
                </a:solidFill>
              </a:rPr>
              <a:t>Q.  What do glPushMatrix and glPopMatrix do?</a:t>
            </a:r>
          </a:p>
          <a:p>
            <a:pPr>
              <a:spcAft>
                <a:spcPts val="1600"/>
              </a:spcAft>
            </a:pPr>
            <a:r>
              <a:rPr sz="1350">
                <a:solidFill>
                  <a:srgbClr val="1B1B1F"/>
                </a:solidFill>
              </a:rPr>
              <a:t>They save and restore the current transformation matrix. Push takes a copy so the matrix can be modified freely for one object, and pop discards the modified copy and puts back what was there. Without them, every transformation would accumulate into everything drawn afterwards.</a:t>
            </a:r>
          </a:p>
          <a:p>
            <a:pPr>
              <a:spcAft>
                <a:spcPts val="400"/>
              </a:spcAft>
            </a:pPr>
            <a:r>
              <a:rPr sz="1600" b="1">
                <a:solidFill>
                  <a:srgbClr val="125C9E"/>
                </a:solidFill>
              </a:rPr>
              <a:t>Q.  Why does the order of glTranslate and glRotate matter?</a:t>
            </a:r>
          </a:p>
          <a:p>
            <a:pPr>
              <a:spcAft>
                <a:spcPts val="1600"/>
              </a:spcAft>
            </a:pPr>
            <a:r>
              <a:rPr sz="1350">
                <a:solidFill>
                  <a:srgbClr val="1B1B1F"/>
                </a:solidFill>
              </a:rPr>
              <a:t>Because matrix multiplication is not commutative. Translating then rotating turns the object about its own new origin; rotating then translating swings it around the old origin on the end of a lever. Both are legal and they give completely different results.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Viva Questions (cont.)</a:t>
            </a:r>
          </a:p>
        </p:txBody>
      </p:sp>
      <p:sp>
        <p:nvSpPr>
          <p:cNvPr id="4" name="TextBox 3"/>
          <p:cNvSpPr txBox="1"/>
          <p:nvPr/>
        </p:nvSpPr>
        <p:spPr>
          <a:xfrm>
            <a:off x="777240" y="1417320"/>
            <a:ext cx="10637215" cy="4754880"/>
          </a:xfrm>
          <a:prstGeom prst="rect">
            <a:avLst/>
          </a:prstGeom>
          <a:noFill/>
        </p:spPr>
        <p:txBody>
          <a:bodyPr wrap="square">
            <a:spAutoFit/>
          </a:bodyPr>
          <a:lstStyle/>
          <a:p>
            <a:pPr>
              <a:spcAft>
                <a:spcPts val="400"/>
              </a:spcAft>
            </a:pPr>
            <a:r>
              <a:rPr sz="1600" b="1">
                <a:solidFill>
                  <a:srgbClr val="125C9E"/>
                </a:solidFill>
              </a:rPr>
              <a:t>Q.  How is hierarchical modelling demonstrated in this project?</a:t>
            </a:r>
          </a:p>
          <a:p>
            <a:pPr>
              <a:spcAft>
                <a:spcPts val="1600"/>
              </a:spcAft>
            </a:pPr>
            <a:r>
              <a:rPr sz="1350">
                <a:solidFill>
                  <a:srgbClr val="1B1B1F"/>
                </a:solidFill>
              </a:rPr>
              <a:t>Each moving part is drawn between a push and a pop inside its parent's transformation, so rotating the parent carries the child with it automatically.</a:t>
            </a:r>
          </a:p>
          <a:p>
            <a:pPr>
              <a:spcAft>
                <a:spcPts val="400"/>
              </a:spcAft>
            </a:pPr>
            <a:r>
              <a:rPr sz="1600" b="1">
                <a:solidFill>
                  <a:srgbClr val="125C9E"/>
                </a:solidFill>
              </a:rPr>
              <a:t>Q.  What is alpha blending?</a:t>
            </a:r>
          </a:p>
          <a:p>
            <a:pPr>
              <a:spcAft>
                <a:spcPts val="1600"/>
              </a:spcAft>
            </a:pPr>
            <a:r>
              <a:rPr sz="1350">
                <a:solidFill>
                  <a:srgbClr val="1B1B1F"/>
                </a:solidFill>
              </a:rPr>
              <a:t>Combining a new fragment with the contents of the framebuffer according to an opacity value, rather than overwriting. The standard function weights the source by its alpha and the destination by one minus alpha.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Limitations and Future Work</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300"/>
              </a:spcAft>
            </a:pPr>
            <a:r>
              <a:rPr sz="1800">
                <a:solidFill>
                  <a:srgbClr val="1B1B1F"/>
                </a:solidFill>
              </a:rPr>
              <a:t>•   Uses the deprecated fixed-function pipeline; a shader-based port is the modern equivalent</a:t>
            </a:r>
          </a:p>
          <a:p>
            <a:pPr>
              <a:spcAft>
                <a:spcPts val="1300"/>
              </a:spcAft>
            </a:pPr>
            <a:r>
              <a:rPr sz="1800">
                <a:solidFill>
                  <a:srgbClr val="1B1B1F"/>
                </a:solidFill>
              </a:rPr>
              <a:t>•   Geometry is submitted in immediate mode every frame</a:t>
            </a:r>
          </a:p>
          <a:p>
            <a:pPr>
              <a:spcAft>
                <a:spcPts val="1300"/>
              </a:spcAft>
            </a:pPr>
            <a:r>
              <a:rPr sz="1800">
                <a:solidFill>
                  <a:srgbClr val="1B1B1F"/>
                </a:solidFill>
              </a:rPr>
              <a:t>•   No texture mapping — surfaces are solid colours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Conclusion</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200"/>
              </a:spcAft>
            </a:pPr>
            <a:r>
              <a:rPr sz="1600">
                <a:solidFill>
                  <a:srgbClr val="1B1B1F"/>
                </a:solidFill>
              </a:rPr>
              <a:t>Basic Solar System 2D implements a complete 2D scene in 639 lines of C with no external assets.</a:t>
            </a:r>
          </a:p>
          <a:p>
            <a:pPr>
              <a:spcAft>
                <a:spcPts val="1200"/>
              </a:spcAft>
            </a:pPr>
            <a:r>
              <a:rPr sz="1600">
                <a:solidFill>
                  <a:srgbClr val="1B1B1F"/>
                </a:solidFill>
              </a:rPr>
              <a:t>It demonstrates alpha blending, matrix stack (hierarchical modelling), orthographic projection, timer-driven animation.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362895" cy="1828800"/>
          </a:xfrm>
          <a:prstGeom prst="rect">
            <a:avLst/>
          </a:prstGeom>
          <a:noFill/>
        </p:spPr>
        <p:txBody>
          <a:bodyPr wrap="square">
            <a:spAutoFit/>
          </a:bodyPr>
          <a:lstStyle/>
          <a:p>
            <a:pPr algn="ctr"/>
            <a:r>
              <a:rPr sz="4400" b="1">
                <a:solidFill>
                  <a:srgbClr val="FFFFFF"/>
                </a:solidFill>
              </a:rPr>
              <a:t>Thank You</a:t>
            </a:r>
          </a:p>
          <a:p>
            <a:pPr algn="ctr"/>
            <a:r>
              <a:rPr sz="1600">
                <a:solidFill>
                  <a:srgbClr val="DCE8F5"/>
                </a:solidFill>
              </a:rPr>
              <a:t>Basic Solar System 2D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